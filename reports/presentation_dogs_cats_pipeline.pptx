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Segoe UI"/>
              </a:defRPr>
            </a:pPr>
            <a:r>
              <a:t>Dogs &amp; Cats Breed Classifier</a:t>
            </a:r>
          </a:p>
          <a:p>
            <a:pPr>
              <a:spcBef>
                <a:spcPts val="1200"/>
              </a:spcBef>
              <a:defRPr sz="2000">
                <a:solidFill>
                  <a:srgbClr val="2563EB"/>
                </a:solidFill>
                <a:latin typeface="Segoe UI"/>
              </a:defRPr>
            </a:pPr>
            <a:r>
              <a:t>End-to-End Machine Learning Data Pipeline &amp; Strategic Next-Phase Roadmap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สรุปภาพรวม Pipeline • การแก้ไขปัญหาและอุปสรรค • แนวทางต่อยอดโมเดล • แผนการปรับปรุงในอนาคต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1036015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BD5E1"/>
                </a:solidFill>
                <a:latin typeface="Segoe UI"/>
              </a:defRPr>
            </a:pPr>
            <a:r>
              <a:t>Dataset: rajarshi2712/dogs-and-cats-classifier (28,983 Images | 104 Classes)  •  Automation: run_pipeline.bat</a:t>
            </a:r>
            <a:br/>
            <a:r>
              <a:t>GitHub: github.com/wayu0849-lang/-  •  Date: August -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PIPELINE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ภาพรวมของระบบ Data Pipeline (Architecture &amp; Highlights)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  <a:latin typeface="Segoe UI"/>
              </a:defRPr>
            </a:pPr>
            <a:r>
              <a:t>1. Data Collection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ดึงข้อมูลผ่าน kagglehub API</a:t>
            </a:r>
            <a:br/>
            <a:r>
              <a:t>• จัดเก็บสู่เครื่องท้องถิ่นใน data/</a:t>
            </a:r>
            <a:br/>
            <a:r>
              <a:t>• กรอง Git ด้วย .gitignore ป้องกัน Push รูปดิบ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645920"/>
            <a:ext cx="2514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D4ED8"/>
                </a:solidFill>
                <a:latin typeface="Segoe UI"/>
              </a:defRPr>
            </a:pPr>
            <a:r>
              <a:t>2. Exploratory EDA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ตรวจสอบ 28,983 รูป (0 ไฟล์เสีย)</a:t>
            </a:r>
            <a:br/>
            <a:r>
              <a:t>• วิเคราะห์ 104 คลาส สุนัข/แมว</a:t>
            </a:r>
            <a:br/>
            <a:r>
              <a:t>• วัด Class Imbalance (12.41x)</a:t>
            </a:r>
            <a:br/>
            <a:r>
              <a:t>• สรุปขนาด 224x224 RGB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2514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  <a:latin typeface="Segoe UI"/>
              </a:defRPr>
            </a:pPr>
            <a:r>
              <a:t>3. Preprocessing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มาตรฐาน RGB 3 ช่องสี</a:t>
            </a:r>
            <a:br/>
            <a:r>
              <a:t>• Resize Lanczos &amp; Aspect-Pad</a:t>
            </a:r>
            <a:br/>
            <a:r>
              <a:t>• Scale [0, 1] + ImageNet Norm</a:t>
            </a:r>
            <a:br/>
            <a:r>
              <a:t>• Data Augmentation (357 FPS)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1645920"/>
            <a:ext cx="2514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7C3AED"/>
                </a:solidFill>
                <a:latin typeface="Segoe UI"/>
              </a:defRPr>
            </a:pPr>
            <a:r>
              <a:t>4. Data Splitting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Train 92.3% (26,752 ภาพ)</a:t>
            </a:r>
            <a:br/>
            <a:r>
              <a:t>• Valid 4.6% (1,339 ภาพ)</a:t>
            </a:r>
            <a:br/>
            <a:r>
              <a:t>• Test 3.1% (892 ภาพ)</a:t>
            </a:r>
            <a:br/>
            <a:r>
              <a:t>• 100% Stratification &amp; 0 Leak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5912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⚡ ประสิทธิภาพและระบบอัตโนมัติ: มี run_pipeline.bat สั่งรันรวดเดียวแบบ End-to-End ครบทุกขั้นตอน | ผ่านการทดสอบ Throughput 357 ภาพ/วินาทีบน CPU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ข้อค้นพบจากการสำรวจข้อมูล และการเตรียมรูปภาพ (EDA &amp; Preprocessing)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📊 ข้อค้นพบสำคัญจาก EDA (Exploratory Data Analysis)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ความสมบูรณ์ 100%: ไม่พบภาพชำรุดเสียหาย (0 Corrupted Images)</a:t>
            </a:r>
            <a:br/>
            <a:r>
              <a:t>• สัดส่วนสายพันธุ์: สุนัข 67.8% (19,658 ภาพ) | แมว 32.2% (9,325 ภาพ)</a:t>
            </a:r>
            <a:br/>
            <a:r>
              <a:t>• อัตราส่วน Class Imbalance: สูงสุด 12.41 เท่า</a:t>
            </a:r>
            <a:br/>
            <a:r>
              <a:t>  - คลาสสูงสุด: cat - bengal (1,080 ภาพ)</a:t>
            </a:r>
            <a:br/>
            <a:r>
              <a:t>  - คลาสต้อยต่ำสุด: dog - bernard-dog - saint (87 ภาพ)</a:t>
            </a:r>
            <a:br/>
            <a:r>
              <a:t>• ขนาดภาพมาตรฐาน: 224 x 224 พิกเซล, รูปแบบสี RGB 3 ช่องสี</a:t>
            </a:r>
            <a:br/>
            <a:r>
              <a:t>• สรุป: ต้องทำ Data Augmentation ในช่วง Train เพื่อป้องกัน Overfitting จากคลาสไม่สมดุล</a:t>
            </a:r>
          </a:p>
        </p:txBody>
      </p:sp>
      <p:pic>
        <p:nvPicPr>
          <p:cNvPr id="5" name="Picture 4" descr="specie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114800"/>
            <a:ext cx="329184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Segoe UI"/>
              </a:defRPr>
            </a:pPr>
            <a:r>
              <a:t>⚙️ กระบวนการ Preprocessing &amp; Augmentation Pipeline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Color Standard: บังคับแปลงเป็น RGB ป้องกันข้อผิดพลาด Grayscale/RGBA</a:t>
            </a:r>
            <a:br/>
            <a:r>
              <a:t>• Scaling &amp; Normalization: แปลงค่าพิกเซล [0, 255] -&gt; [0, 1] และ Z-Score ImageNet Standard (Mean=[0.485, 0.456, 0.406], Std=[0.229, 0.224, 0.225])</a:t>
            </a:r>
            <a:br/>
            <a:r>
              <a:t>• Data Augmentation (Training Pipeline):</a:t>
            </a:r>
            <a:br/>
            <a:r>
              <a:t>  - Random Horizontal Flip (p=0.5)</a:t>
            </a:r>
            <a:br/>
            <a:r>
              <a:t>  - Random Rotation (+/- 15 องศา)</a:t>
            </a:r>
            <a:br/>
            <a:r>
              <a:t>  - Color Jitter (Brightness/Contrast 0.85 - 1.15)</a:t>
            </a:r>
            <a:br/>
            <a:r>
              <a:t>• ความเร็วการประมวลผล: ~357 FPS พร้อมใช้งานใน DataLoader ทันที</a:t>
            </a:r>
          </a:p>
        </p:txBody>
      </p:sp>
      <p:pic>
        <p:nvPicPr>
          <p:cNvPr id="7" name="Picture 6" descr="augmentation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89120"/>
            <a:ext cx="4846320" cy="1130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PROBLEMS &amp; OBSTACLES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ปัญหาและอุปสรรคที่พบระหว่างทำงาน และแนวทางแก้ไข (Challenges &amp; Solutions)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563EB"/>
                </a:solidFill>
                <a:latin typeface="Segoe UI"/>
              </a:defRPr>
            </a:pPr>
            <a:r>
              <a:t>1. สิทธิ์ Administrator ในการติดตั้ง Git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อุปสรรค: winget เรียก InnoSetup installer ของ Git ที่ร้องขอสิทธิ์ Admin (UAC Prompt) ทำให้คำสั่งล้มเหลวแบบ Non-interactive  ➜  วิธีแก้ไข: ดาวน์โหลด MinGit (Portable Git 64-bit) มาแตกไฟล์ใน %LOCALAPPDATA%\Programs\Git และตั้งค่า User PATH ถาวร ทำให้ใช้งาน Git ได้สมบูรณ์โดยไม่ต้องพึ่งสิทธิ์แอดมิน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59736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563EB"/>
                </a:solidFill>
                <a:latin typeface="Segoe UI"/>
              </a:defRPr>
            </a:pPr>
            <a:r>
              <a:t>2. ปัญหา Git Authentication &amp; User Config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อุปสรรค: การรัน git push ค้างเนื่องจาก Git ยังไม่ได้ตั้งค่า identity (Author unknown) และขาด Credential Helper สำหรับ HTTPS  ➜  วิธีแก้ไข: กำหนด user.name 'wayu0849-lang' และ user.email ให้ตรงกับ GitHub บัญชีเดียวกัน พร้อมเปิดใช้งาน Git Credential Manager (manager)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56432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563EB"/>
                </a:solidFill>
                <a:latin typeface="Segoe UI"/>
              </a:defRPr>
            </a:pPr>
            <a:r>
              <a:t>3. การป้องกันข้อมูลรูปภาพขนาดใหญ่หลุดขึ้น Git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อุปสรรค: รูปภาพ 28,983 รูปขนาดรวมหลายร้อย MB หาก push ขึ้น GitHub จะเกินขีดจำกัดของ Git Repository  ➜  วิธีแก้ไข: ออกแบบ .gitignore กรองโฟลเดอร์ data/ และนามสกุลรูปภาพ แต่ทำการ Whitelist เฉพาะไฟล์รายงานและชาร์ตใน reports/ ให้ติดตามได้ครบถ้วน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53128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563EB"/>
                </a:solidFill>
                <a:latin typeface="Segoe UI"/>
              </a:defRPr>
            </a:pPr>
            <a:r>
              <a:t>4. ปัญหา Class Imbalance ในชุดข้อมูล (12.41x)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อุปสรรค: สายพันธุ์สุนัขบางคลาสมีภาพเพียง 87 ภาพ ขณะที่แมวบางคลาสมีถึง 1,080 ภาพ เสี่ยงต่อการเกิดโมเดล Biased  ➜  วิธีแก้ไข: ออกแบบ Stochastic Data Augmentation (Rotation, Jitter, Flip) ใน Training Pipeline และเสนอแนะการใช้ Focal Loss / Weighted Sampler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49824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563EB"/>
                </a:solidFill>
                <a:latin typeface="Segoe UI"/>
              </a:defRPr>
            </a:pPr>
            <a:r>
              <a:t>5. ความเปลี่ยนแปลงของ API ใน Pandas 3.0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อุปสรรค: การใช้ groupby().apply() ในการสุ่มภาพตรวจสอบ Data Leakage เกิดข้อผิดพลาดของ Multi-index ในเวอร์ชันล่าสุด  ➜  วิธีแก้ไข: ปรับปรุงตรรกะการสุ่มตัวอย่างด้วย Dataframe Slicing ตรงตามราย Split ทำให้การตรวจสอบ MD5 Hash ราบรื่นและแม่นยำ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PROJECT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แนวทางการนำชุดข้อมูลที่ Clean แล้วไปต่อยอดทำโปรเจกต์ (Next-Phase Project Roadmap)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563EB"/>
                </a:solidFill>
                <a:latin typeface="Segoe UI"/>
              </a:defRPr>
            </a:pPr>
            <a:r>
              <a:t>Project 1: Fine-Tuning SOTA Vision Models (Transfer Learning)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การสร้างโมเดลจำแนกสายพันธุ์ด้วย Pretrained Vision Backbones เช่น EfficientNetV2, ConvNeXt, Swin Transformer หรือ MobileNetV4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• ความสอดคล้อง: ภาพขนาด 224x224 RGB ตรงกับ input architecture ของโมเดล SOTA อยู่แล้ว</a:t>
            </a:r>
            <a:br/>
            <a:r>
              <a:t>• ประสิทธิภาพ: Transfer Learning ช่วยให้โมเดลจำแนก 104 คลาสได้แม่นยำสูง (&gt;90%) แม้ในคลาสที่มีรูปภาพน้อย (87 รูป)</a:t>
            </a:r>
            <a:br/>
            <a:r>
              <a:t>• ความคุ้มค่า: ประหยัดเวลาและพลังงาน Compute ได้มากกว่าเทรนจากศูนย์หลายเท่าตัว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10B981"/>
                </a:solidFill>
                <a:latin typeface="Segoe UI"/>
              </a:defRPr>
            </a:pPr>
            <a:r>
              <a:t>Project 2: Hierarchical / Multi-Task Learning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การจำแนกแบบลำดับชั้น (Species -&gt; Breed -&gt; Visual Attributes) เช่น จำแนกชนิดสัตว์, สายพันธุ์, สีขน, และลวดลาย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• สกัด Feature ร่วม: พัฒนา Multi-Head Classifier เรียนรู้ทั้งหมวดหมู่หลัก (หมา/แมว) และหมวดหมู่ย่อยพร้อมกัน</a:t>
            </a:r>
            <a:br/>
            <a:r>
              <a:t>• Hierarchical Fallback: หากโมเดลไม่มั่นใจในระดับสายพันธุ์ ก็ยังสามารถทำนายชนิดสัตว์และลักษณะภายนอกได้ถูกต้อง</a:t>
            </a:r>
            <a:br/>
            <a:r>
              <a:t>• Robustness: ลดความสับสนระหว่างสายพันธุ์ที่มีรูปลักษณ์ใกล้เคียงกัน เช่น Siberian Husky กับ Alaskan Malamute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7C3AED"/>
                </a:solidFill>
                <a:latin typeface="Segoe UI"/>
              </a:defRPr>
            </a:pPr>
            <a:r>
              <a:t>Project 3: Real-Time Mobile &amp; Edge Application (Edge AI)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การแปลงโมเดลเป็น ONNX Runtime / TensorFlow Lite เพื่อพัฒนาแอปพลิเคชันมือถือหรือ Web App สำหรับระบุสายพันธุ์สัตว์เลี้ยง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• Throughput สูง: Preprocessing ทำงานได้เร็วถึง 357 FPS บน CPU ทำให้รันบนอุปกรณ์ปลายทางได้แบบ Real-time</a:t>
            </a:r>
            <a:br/>
            <a:r>
              <a:t>• On-Device Offline: โมเดลอย่าง MobileNet มีขนาดเล็ก (&lt;20 MB) สามารถสแกนและระบุสายพันธุ์ได้โดยไม่ต้องต่อเน็ต</a:t>
            </a:r>
            <a:br/>
            <a:r>
              <a:t>• Real-world Value: ใช้งานได้จริงในคลินิกสัตว์, โรงพยาบาลสัตว์, คาเฟ่สัตว์เลี้ยง, และศูนย์รับเลี้ยงสัตว์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D97706"/>
                </a:solidFill>
                <a:latin typeface="Segoe UI"/>
              </a:defRPr>
            </a:pPr>
            <a:r>
              <a:t>Project 4: Explainable AI (XAI) &amp; Pet Facial Landmark Analysis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การประยุกต์ใช้ Grad-CAM และ Integrated Gradients เพื่อตรวจสอบจุดสังเกต (Attention Heatmap) ที่โมเดลใช้ในการตัดสินใจ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• ความโปร่งใส (Transparency): ตรวจสอบว่าโมเดลดูที่โครงหน้า, ทรงหู, หรือลายขนจริง แทนที่จะจำ Background หรือสิ่งแปลกปลอม</a:t>
            </a:r>
            <a:br/>
            <a:r>
              <a:t>• Medical Screening: สามารถต่อยอดวิเคราะห์โครงสร้างใบหน้าสัตว์เลี้ยงเพื่อคัดกรองปัญหาสุขภาพเบื้องต้นได้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SUPPORTING RATIONALES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เหตุผลสนับสนุนในการเลือกต่อยอดทางเทคนิคและธุรกิจ (Supporting Rationales)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ความพร้อมทางเทคนิค (Technical Readiness)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ข้อมูลสะอาด 100%: ไม่มีไฟล์เสีย (Zero Corrupt) และมีมิติ 224x224 RGB สม่ำเสมอ</a:t>
            </a:r>
            <a:br/>
            <a:r>
              <a:t>• สถาปัตยกรรมรองรับ: มีฟังก์ชัน Preprocessing &amp; Normalization ที่คำนวณสถิติ ImageNet ไว้อย่างสมบูรณ์</a:t>
            </a:r>
            <a:br/>
            <a:r>
              <a:t>• ประสิทธิภาพความเร็ว: Throughput 357 FPS ทำให้การทำ Dynamic Batching ใน DataLoader ไหลลื่น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01568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Segoe UI"/>
              </a:defRPr>
            </a:pPr>
            <a:r>
              <a:t>ความคุ้มค่าและความเสี่ยงต่ำ (High ROI &amp; Low Risk)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การใช้ Transfer Learning ลดเวลาในการ Train จากระดับสัปดาห์เหลือเพียงไม่กี่ชั่วโมงบน GPU</a:t>
            </a:r>
            <a:br/>
            <a:r>
              <a:t>• ไม่ต้องเก็บข้อมูลใหม่ทั้งหมด: อาศัย Pre-trained Feature Extractor จาก ImageNet ทำให้ผลลัพธ์โมเดลแม่นยำสูงและมีความเสถียร</a:t>
            </a:r>
            <a:br/>
            <a:r>
              <a:t>• Zero Data Leakage: การันตีว่าผลการประเมินจะไม่มี Overfitting หลอกตา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01568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7C3AED"/>
                </a:solidFill>
                <a:latin typeface="Segoe UI"/>
              </a:defRPr>
            </a:pPr>
            <a:r>
              <a:t>คุณค่าเชิงการนำไปใช้จริง (Real-World Impact)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ตลาด Pet Industry เติบโตอย่างต่อเนื่อง การมีแอปพลิเคชันที่ระบุสายพันธุ์สัตว์เลี้ยงได้แม่นยำสร้าง Value ให้ทั้งผู้เลี้ยงและธุรกิจ</a:t>
            </a:r>
            <a:br/>
            <a:r>
              <a:t>• สนับสนุนงานด้านสวัสดิภาพสัตว์ (Shelter Adoption): ช่วยศูนย์ช่วยเหลือสัตว์จัดหมวดหมู่สัตว์จรจัดได้อย่างรวดเร็ว</a:t>
            </a:r>
            <a:br/>
            <a:r>
              <a:t>• สามารถต่อยอดเป็น AI API ให้บริการระบบภายนอกได้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สิ่งที่จะปรับปรุงและพัฒนาต่อ หากมีเวลาหรือทรัพยากรเพิ่มเติม (Future Improvements)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  <a:latin typeface="Segoe UI"/>
              </a:defRPr>
            </a:pPr>
            <a:r>
              <a:t>1. การจัดการความสมดุลและคุณภาพของข้อมูล (Data Quality &amp; Balance)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Targeted Data Collection: เก็บข้อมูลภาพเพิ่มเติมสำหรับคลาสที่มีภาพน้อยกว่า 100 ภาพ (เช่น Saint Bernard, Pinscher, Dachshund) ให้มีอย่างน้อย 300+ ภาพ/คลาส</a:t>
            </a:r>
            <a:br/>
            <a:r>
              <a:t>• Generative Data Augmentation: นำโมเดลสังเคราะห์ภาพ (Diffusion Models / ControlNet) มาช่วยสังเคราะห์สายพันธุ์ที่หายากอย่างสมจริง</a:t>
            </a:r>
            <a:br/>
            <a:r>
              <a:t>• Perceptual Deduplication: ใช้ pHash หรือ Embedding Cosine Similarity ตรวจจับและคัดกรองภาพที่ซ้ำซ้อนระดับมุมมองใกล้เคียงกัน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  <a:latin typeface="Segoe UI"/>
              </a:defRPr>
            </a:pPr>
            <a:r>
              <a:t>2. การเพิ่มประสิทธิภาพการแบ่งข้อมูล (Data Splitting Optimization)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Re-Splitting สู่สัดส่วนมาตรฐาน: ปรับสัดส่วนจาก 92/5/3 ให้เป็น 80% Train / 10% Valid / 10% Test เพื่อให้ชุด Test มีขนาดใหญ่ขึ้น (2,800+ ภาพ) สร้างความมั่นใจในการวัดผล</a:t>
            </a:r>
            <a:br/>
            <a:r>
              <a:t>• Stratified K-Fold Cross Validation: จัดทำสคริปต์ทำ 5-Fold Cross Validation เพื่อการันตีว่าโมเดลมีความทนทาน (Robustness) ไม่ขึ้นกับสุ่มรอบใดรอบหนึ่ง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  <a:latin typeface="Segoe UI"/>
              </a:defRPr>
            </a:pPr>
            <a:r>
              <a:t>3. การยกระดับสู่ระบบ MLOps เต็มรูปแบบ (Infrastructure &amp; Automation)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Data Version Control (DVC): ติดตั้ง DVC ร่วมกับ Cloud Storage (S3 / GCS) สำหรับ Versioning ไฟล์ภาพ 28,000+ ภาพอย่างเป็นระบบ</a:t>
            </a:r>
            <a:br/>
            <a:r>
              <a:t>• Automated CI/CD Testing: ทำ GitHub Actions เพื่อรัน Unit Test และ Data Quality Verification ทุกครั้งที่มีการ Commit โค้ดใหม่</a:t>
            </a:r>
            <a:br/>
            <a:r>
              <a:t>• GPU-Accelerated Preprocessing: แปลง Preprocessing Pipeline เป็น Albumentations หรือ NVIDIA DALI เพื่อเร่ง Throughput จาก 357 FPS สู่ระดับ 2,000+ FPS บน GPU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บทสรุปและก้าวต่อไป (Summary &amp; Ready for Next Phase)</a:t>
            </a:r>
          </a:p>
          <a:p>
            <a:pPr>
              <a:spcBef>
                <a:spcPts val="800"/>
              </a:spcBef>
              <a:defRPr sz="1600">
                <a:solidFill>
                  <a:srgbClr val="2563EB"/>
                </a:solidFill>
                <a:latin typeface="Segoe UI"/>
              </a:defRPr>
            </a:pPr>
            <a:r>
              <a:t>Data Pipeline เสร็จสมบูรณ์ตามหลักวิศวกรรม Machine Learning พร้อมก้าวสู่การเทรนและ Deploy โมเดล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328416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Segoe UI"/>
              </a:defRPr>
            </a:pPr>
            <a:r>
              <a:t>1. Data Pipeline Complete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ดาวน์โหลด, ตรวจสอบ, EDA, Preprocess (357 FPS) และแบ่งชุดข้อมูล Train/Val/Test 104 คลาสเรียบร้อย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743200"/>
            <a:ext cx="3328416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Segoe UI"/>
              </a:defRPr>
            </a:pPr>
            <a:r>
              <a:t>2. Automation &amp; Reproducibility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ควบคุมผ่าน run_pipeline.bat รันจบในคลิกเดียว พร้อมเอกสารรายงาน Markdown และชาร์ตสถิติครบถ้วน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2743200"/>
            <a:ext cx="3328416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Segoe UI"/>
              </a:defRPr>
            </a:pPr>
            <a:r>
              <a:t>3. Ready for SOTA Modeling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รองรับการทำ Transfer Learning (EfficientNet/ConvNeXt) และพร้อมต่อยอดเป็น Real-time Edge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Repository: https://github.com/wayu0849-lang/-   |   Q&amp;A Session &amp;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